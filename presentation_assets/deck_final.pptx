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4" r:id="rId3"/>
    <p:sldId id="257" r:id="rId4"/>
    <p:sldId id="258" r:id="rId5"/>
    <p:sldId id="259" r:id="rId6"/>
    <p:sldId id="260" r:id="rId7"/>
    <p:sldId id="261" r:id="rId8"/>
    <p:sldId id="262" r:id="rId9"/>
    <p:sldId id="263"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610538-92E4-43B3-AF0A-9DBB9CDAA302}" v="2" dt="2026-05-25T21:33:33.0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260" autoAdjust="0"/>
  </p:normalViewPr>
  <p:slideViewPr>
    <p:cSldViewPr snapToGrid="0" snapToObjects="1">
      <p:cViewPr varScale="1">
        <p:scale>
          <a:sx n="78" d="100"/>
          <a:sy n="78" d="100"/>
        </p:scale>
        <p:origin x="85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730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project asks whether a machine learning model can predict the daily direction of XLE well enough to produce risk-adjusted returns above a naive buy-and-hold baseline. Starting from a true baseline Sharpe of 0.86, the </a:t>
            </a:r>
            <a:r>
              <a:rPr lang="en-US" dirty="0" err="1"/>
              <a:t>AutoResearch</a:t>
            </a:r>
            <a:r>
              <a:rPr lang="en-US" dirty="0"/>
              <a:t> loop ran roughly 60 experiments over five weeks and converged on a Random Forest direction classifier with a single-holdout validation Sharpe of 2.59. I'll walk through how we got there and what the agent actually contributed.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Energy return prediction is hard for structural reasons. Oil prices respond to supply shocks, geopolitical events, and macro regime changes in ways that are difficult to model with fixed features. The research contract was narrow by design: only model.py could be modified, which forced the agent to find signal within a disciplined scope rather than engineering its way out of the problem.</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chart is the full experiment trace. Every bar is one run, colored by outcome. The macro feature experiments produced some of the worst results including negative Sharpe. The sweep phase is where most of the signal came from. XGBoost, despite being a reasonable prior, was consistently worse than the RF baseline across all configurations tried.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same story told as a timeline of committed improvements. The big jump happened during the hyperparameter sweep, where moving to n=600 trees and tuning minimum samples per leaf pushed past Sharpe 2.4. The WTI shock filter then added 0.37 on top of that. The final post-cleanup value of 2.59 reflects a rerun after removing experimental cruft from the pipeline.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compounds steadily and largely avoids the drawdown periods where buy-and-hold gave back gains. The win rate of 43.9% is worth flagging: the model wins less than half the time but sizes its correct bets better, which is characteristic of a momentum-style classifier.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model uses only 6 features, all derived from the lagged return series. Every attempt to add external features hurt out-of-sample performance. The model is telling us the signal lives in price momentum and short-term volatility, not in external fundamentals.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rolling 63-day Sharpe is the credibility check. It stays consistently positive for most of the validation period, with one notable exception around November-December 2025 corresponding to a regime shift in energy markets.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lesson is about parsimony. Every intervention that added complexity hurt. The direct Sharpe optimizer had a training-to-validation correlation of 0.03, meaning the objective it was optimizing had essentially no relationship to what we actually care about.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model is fully specified here. The single-holdout Sharpe of 2.59 reflects a favorable market environment. The walk-forward mean of 0.32 is the more conservative and honest generalization estimate. The project achieved its contract objective, but this gap is a real limitation.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agent accelerated the sweep phase dramatically, but the two most important decisions in the project required human judgment: recognizing the direct Sharpe optimizer was broken, and abandoning macro features after understanding the sparsity problem. The loop worked because the contract was narrow. A looser scope would have produced a messier result.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280160"/>
            <a:ext cx="10058400" cy="640080"/>
          </a:xfrm>
          <a:prstGeom prst="rect">
            <a:avLst/>
          </a:prstGeom>
          <a:noFill/>
        </p:spPr>
        <p:txBody>
          <a:bodyPr wrap="square">
            <a:spAutoFit/>
          </a:bodyPr>
          <a:lstStyle/>
          <a:p>
            <a:pPr algn="l"/>
            <a:r>
              <a:rPr sz="1600" b="0" i="1">
                <a:solidFill>
                  <a:srgbClr val="8BA0B4"/>
                </a:solidFill>
              </a:rPr>
              <a:t>XLE Energy ETF</a:t>
            </a:r>
          </a:p>
        </p:txBody>
      </p:sp>
      <p:sp>
        <p:nvSpPr>
          <p:cNvPr id="5" name="TextBox 4"/>
          <p:cNvSpPr txBox="1"/>
          <p:nvPr/>
        </p:nvSpPr>
        <p:spPr>
          <a:xfrm>
            <a:off x="1005840" y="1737360"/>
            <a:ext cx="10058400" cy="914400"/>
          </a:xfrm>
          <a:prstGeom prst="rect">
            <a:avLst/>
          </a:prstGeom>
          <a:noFill/>
        </p:spPr>
        <p:txBody>
          <a:bodyPr wrap="square">
            <a:spAutoFit/>
          </a:bodyPr>
          <a:lstStyle/>
          <a:p>
            <a:pPr algn="l"/>
            <a:r>
              <a:rPr sz="3800" b="1" i="0">
                <a:solidFill>
                  <a:srgbClr val="F0F4F8"/>
                </a:solidFill>
              </a:rPr>
              <a:t>AutoResearch Capstone</a:t>
            </a:r>
          </a:p>
        </p:txBody>
      </p:sp>
      <p:sp>
        <p:nvSpPr>
          <p:cNvPr id="6" name="TextBox 5"/>
          <p:cNvSpPr txBox="1"/>
          <p:nvPr/>
        </p:nvSpPr>
        <p:spPr>
          <a:xfrm>
            <a:off x="1005840" y="2606040"/>
            <a:ext cx="10058400" cy="548640"/>
          </a:xfrm>
          <a:prstGeom prst="rect">
            <a:avLst/>
          </a:prstGeom>
          <a:noFill/>
        </p:spPr>
        <p:txBody>
          <a:bodyPr wrap="square">
            <a:spAutoFit/>
          </a:bodyPr>
          <a:lstStyle/>
          <a:p>
            <a:pPr algn="l"/>
            <a:r>
              <a:rPr sz="2000" b="0" i="0">
                <a:solidFill>
                  <a:srgbClr val="38BDF8"/>
                </a:solidFill>
              </a:rPr>
              <a:t>ML-Driven Sharpe Ratio Optimization</a:t>
            </a:r>
          </a:p>
        </p:txBody>
      </p:sp>
      <p:sp>
        <p:nvSpPr>
          <p:cNvPr id="7" name="Rectangle 6"/>
          <p:cNvSpPr/>
          <p:nvPr/>
        </p:nvSpPr>
        <p:spPr>
          <a:xfrm>
            <a:off x="1005840" y="3931920"/>
            <a:ext cx="1828800" cy="502920"/>
          </a:xfrm>
          <a:prstGeom prst="rect">
            <a:avLst/>
          </a:prstGeom>
          <a:solidFill>
            <a:srgbClr val="1B2B3E"/>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lIns="76200" rtlCol="0" anchor="ctr"/>
          <a:lstStyle/>
          <a:p>
            <a:pPr algn="ctr"/>
            <a:r>
              <a:rPr sz="1100" b="1">
                <a:solidFill>
                  <a:srgbClr val="FCD34D"/>
                </a:solidFill>
              </a:rPr>
              <a:t>True Baseline  0.86</a:t>
            </a:r>
          </a:p>
        </p:txBody>
      </p:sp>
      <p:sp>
        <p:nvSpPr>
          <p:cNvPr id="8" name="Rectangle 7"/>
          <p:cNvSpPr/>
          <p:nvPr/>
        </p:nvSpPr>
        <p:spPr>
          <a:xfrm>
            <a:off x="4023360" y="3931920"/>
            <a:ext cx="1828800" cy="502920"/>
          </a:xfrm>
          <a:prstGeom prst="rect">
            <a:avLst/>
          </a:prstGeom>
          <a:solidFill>
            <a:srgbClr val="1B2B3E"/>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lIns="76200" rtlCol="0" anchor="ctr"/>
          <a:lstStyle/>
          <a:p>
            <a:pPr algn="ctr"/>
            <a:r>
              <a:rPr sz="1100" b="1">
                <a:solidFill>
                  <a:srgbClr val="4ADE80"/>
                </a:solidFill>
              </a:rPr>
              <a:t>Best Committed  2.21</a:t>
            </a:r>
          </a:p>
        </p:txBody>
      </p:sp>
      <p:sp>
        <p:nvSpPr>
          <p:cNvPr id="9" name="Rectangle 8"/>
          <p:cNvSpPr/>
          <p:nvPr/>
        </p:nvSpPr>
        <p:spPr>
          <a:xfrm>
            <a:off x="7040880" y="3931920"/>
            <a:ext cx="1828800" cy="502920"/>
          </a:xfrm>
          <a:prstGeom prst="rect">
            <a:avLst/>
          </a:prstGeom>
          <a:solidFill>
            <a:srgbClr val="1B2B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76200" rtlCol="0" anchor="ctr"/>
          <a:lstStyle/>
          <a:p>
            <a:pPr algn="ctr"/>
            <a:r>
              <a:rPr sz="1100" b="1">
                <a:solidFill>
                  <a:srgbClr val="38BDF8"/>
                </a:solidFill>
              </a:rPr>
              <a:t>Final Sharpe  2.59</a:t>
            </a:r>
          </a:p>
        </p:txBody>
      </p:sp>
      <p:sp>
        <p:nvSpPr>
          <p:cNvPr id="10" name="Rectangle 9"/>
          <p:cNvSpPr/>
          <p:nvPr/>
        </p:nvSpPr>
        <p:spPr>
          <a:xfrm>
            <a:off x="10058400" y="3931920"/>
            <a:ext cx="1828800" cy="502920"/>
          </a:xfrm>
          <a:prstGeom prst="rect">
            <a:avLst/>
          </a:prstGeom>
          <a:solidFill>
            <a:srgbClr val="1B2B3E"/>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lIns="76200" rtlCol="0" anchor="ctr"/>
          <a:lstStyle/>
          <a:p>
            <a:pPr algn="ctr"/>
            <a:r>
              <a:rPr sz="1100" b="1">
                <a:solidFill>
                  <a:srgbClr val="C084FC"/>
                </a:solidFill>
              </a:rPr>
              <a:t>~60 Experiments</a:t>
            </a:r>
          </a:p>
        </p:txBody>
      </p:sp>
      <p:sp>
        <p:nvSpPr>
          <p:cNvPr id="11" name="TextBox 10"/>
          <p:cNvSpPr txBox="1"/>
          <p:nvPr/>
        </p:nvSpPr>
        <p:spPr>
          <a:xfrm>
            <a:off x="1005840" y="4663440"/>
            <a:ext cx="10058400" cy="365760"/>
          </a:xfrm>
          <a:prstGeom prst="rect">
            <a:avLst/>
          </a:prstGeom>
          <a:noFill/>
        </p:spPr>
        <p:txBody>
          <a:bodyPr wrap="square">
            <a:spAutoFit/>
          </a:bodyPr>
          <a:lstStyle/>
          <a:p>
            <a:pPr algn="l"/>
            <a:r>
              <a:rPr sz="1000" b="0" i="1">
                <a:solidFill>
                  <a:srgbClr val="8BA0B4"/>
                </a:solidFill>
              </a:rPr>
              <a:t>Sessions: Apr 15 – May 18 2026  ·  Model: RF DirectionModel  ·  Data: XLE 2020–present</a:t>
            </a:r>
          </a:p>
        </p:txBody>
      </p:sp>
      <p:sp>
        <p:nvSpPr>
          <p:cNvPr id="12" name="TextBox 11"/>
          <p:cNvSpPr txBox="1"/>
          <p:nvPr/>
        </p:nvSpPr>
        <p:spPr>
          <a:xfrm>
            <a:off x="1005840" y="5074920"/>
            <a:ext cx="10058400" cy="365760"/>
          </a:xfrm>
          <a:prstGeom prst="rect">
            <a:avLst/>
          </a:prstGeom>
          <a:noFill/>
        </p:spPr>
        <p:txBody>
          <a:bodyPr wrap="square">
            <a:spAutoFit/>
          </a:bodyPr>
          <a:lstStyle/>
          <a:p>
            <a:pPr algn="l"/>
            <a:r>
              <a:rPr sz="1000" b="0" i="1">
                <a:solidFill>
                  <a:srgbClr val="8BA0B4"/>
                </a:solidFill>
              </a:rPr>
              <a:t>Only model.py was modified. prepare.py and run.py were frozen.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1430000" cy="502920"/>
          </a:xfrm>
          <a:prstGeom prst="rect">
            <a:avLst/>
          </a:prstGeom>
          <a:noFill/>
        </p:spPr>
        <p:txBody>
          <a:bodyPr wrap="square">
            <a:spAutoFit/>
          </a:bodyPr>
          <a:lstStyle/>
          <a:p>
            <a:pPr algn="l"/>
            <a:r>
              <a:rPr sz="2600" b="1" i="0">
                <a:solidFill>
                  <a:srgbClr val="F0F4F8"/>
                </a:solidFill>
              </a:rPr>
              <a:t>The Problem</a:t>
            </a:r>
          </a:p>
        </p:txBody>
      </p:sp>
      <p:sp>
        <p:nvSpPr>
          <p:cNvPr id="4" name="TextBox 3"/>
          <p:cNvSpPr txBox="1"/>
          <p:nvPr/>
        </p:nvSpPr>
        <p:spPr>
          <a:xfrm>
            <a:off x="365760" y="914400"/>
            <a:ext cx="11430000" cy="365760"/>
          </a:xfrm>
          <a:prstGeom prst="rect">
            <a:avLst/>
          </a:prstGeom>
          <a:noFill/>
        </p:spPr>
        <p:txBody>
          <a:bodyPr wrap="square">
            <a:spAutoFit/>
          </a:bodyPr>
          <a:lstStyle/>
          <a:p>
            <a:pPr algn="l"/>
            <a:r>
              <a:rPr sz="1300" b="1" i="0">
                <a:solidFill>
                  <a:srgbClr val="38BDF8"/>
                </a:solidFill>
              </a:rPr>
              <a:t>Why XLE?</a:t>
            </a:r>
          </a:p>
        </p:txBody>
      </p:sp>
      <p:sp>
        <p:nvSpPr>
          <p:cNvPr id="5" name="TextBox 4"/>
          <p:cNvSpPr txBox="1"/>
          <p:nvPr/>
        </p:nvSpPr>
        <p:spPr>
          <a:xfrm>
            <a:off x="365760" y="1280160"/>
            <a:ext cx="11430000" cy="1371600"/>
          </a:xfrm>
          <a:prstGeom prst="rect">
            <a:avLst/>
          </a:prstGeom>
          <a:noFill/>
        </p:spPr>
        <p:txBody>
          <a:bodyPr wrap="square">
            <a:spAutoFit/>
          </a:bodyPr>
          <a:lstStyle/>
          <a:p>
            <a:pPr algn="l"/>
            <a:r>
              <a:rPr sz="1100" b="0" i="0">
                <a:solidFill>
                  <a:srgbClr val="F0F4F8"/>
                </a:solidFill>
              </a:rPr>
              <a:t>Energy sector returns are driven by oil price shocks, geopolitical events, and macro regime shifts. These create non-stationary return dynamics that make prediction genuinely hard.</a:t>
            </a:r>
          </a:p>
        </p:txBody>
      </p:sp>
      <p:sp>
        <p:nvSpPr>
          <p:cNvPr id="6" name="TextBox 5"/>
          <p:cNvSpPr txBox="1"/>
          <p:nvPr/>
        </p:nvSpPr>
        <p:spPr>
          <a:xfrm>
            <a:off x="365760" y="2788920"/>
            <a:ext cx="11430000" cy="365760"/>
          </a:xfrm>
          <a:prstGeom prst="rect">
            <a:avLst/>
          </a:prstGeom>
          <a:noFill/>
        </p:spPr>
        <p:txBody>
          <a:bodyPr wrap="square">
            <a:spAutoFit/>
          </a:bodyPr>
          <a:lstStyle/>
          <a:p>
            <a:pPr algn="l"/>
            <a:r>
              <a:rPr sz="1300" b="1" i="0">
                <a:solidFill>
                  <a:srgbClr val="4ADE80"/>
                </a:solidFill>
              </a:rPr>
              <a:t>The Research Contract</a:t>
            </a:r>
          </a:p>
        </p:txBody>
      </p:sp>
      <p:sp>
        <p:nvSpPr>
          <p:cNvPr id="7" name="TextBox 6"/>
          <p:cNvSpPr txBox="1"/>
          <p:nvPr/>
        </p:nvSpPr>
        <p:spPr>
          <a:xfrm>
            <a:off x="365760" y="3154679"/>
            <a:ext cx="11430000" cy="1371600"/>
          </a:xfrm>
          <a:prstGeom prst="rect">
            <a:avLst/>
          </a:prstGeom>
          <a:noFill/>
        </p:spPr>
        <p:txBody>
          <a:bodyPr wrap="square">
            <a:spAutoFit/>
          </a:bodyPr>
          <a:lstStyle/>
          <a:p>
            <a:pPr algn="l"/>
            <a:r>
              <a:rPr sz="1100" b="0" i="0">
                <a:solidFill>
                  <a:srgbClr val="F0F4F8"/>
                </a:solidFill>
              </a:rPr>
              <a:t>Can a machine learning model predict the daily direction of XLE well enough to achieve an annualized Sharpe ratio above 1.0 on a held-out validation set, using only model.py modifications with prepare.py and run.py frozen?</a:t>
            </a:r>
          </a:p>
        </p:txBody>
      </p:sp>
      <p:sp>
        <p:nvSpPr>
          <p:cNvPr id="8" name="TextBox 7"/>
          <p:cNvSpPr txBox="1"/>
          <p:nvPr/>
        </p:nvSpPr>
        <p:spPr>
          <a:xfrm>
            <a:off x="365760" y="4663440"/>
            <a:ext cx="11430000" cy="365760"/>
          </a:xfrm>
          <a:prstGeom prst="rect">
            <a:avLst/>
          </a:prstGeom>
          <a:noFill/>
        </p:spPr>
        <p:txBody>
          <a:bodyPr wrap="square">
            <a:spAutoFit/>
          </a:bodyPr>
          <a:lstStyle/>
          <a:p>
            <a:pPr algn="l"/>
            <a:r>
              <a:rPr sz="1300" b="1" i="0">
                <a:solidFill>
                  <a:srgbClr val="FCD34D"/>
                </a:solidFill>
              </a:rPr>
              <a:t>Why It's Hard</a:t>
            </a:r>
          </a:p>
        </p:txBody>
      </p:sp>
      <p:sp>
        <p:nvSpPr>
          <p:cNvPr id="9" name="TextBox 8"/>
          <p:cNvSpPr txBox="1"/>
          <p:nvPr/>
        </p:nvSpPr>
        <p:spPr>
          <a:xfrm>
            <a:off x="365760" y="5029200"/>
            <a:ext cx="11430000" cy="1371600"/>
          </a:xfrm>
          <a:prstGeom prst="rect">
            <a:avLst/>
          </a:prstGeom>
          <a:noFill/>
        </p:spPr>
        <p:txBody>
          <a:bodyPr wrap="square">
            <a:spAutoFit/>
          </a:bodyPr>
          <a:lstStyle/>
          <a:p>
            <a:pPr algn="l"/>
            <a:r>
              <a:rPr sz="1100" b="0" i="0">
                <a:solidFill>
                  <a:srgbClr val="F0F4F8"/>
                </a:solidFill>
              </a:rPr>
              <a:t>Energy returns exhibit fat tails, regime changes, and low signal-to-noise ratios. Naive feature engineering consistently overfits. The baseline linear model achieves Sharpe 0.86, meaning there is real signal but capturing it requires disciplined methodology.</a:t>
            </a:r>
          </a:p>
        </p:txBody>
      </p:sp>
      <p:sp>
        <p:nvSpPr>
          <p:cNvPr id="10" name="Rectangle 9"/>
          <p:cNvSpPr/>
          <p:nvPr/>
        </p:nvSpPr>
        <p:spPr>
          <a:xfrm>
            <a:off x="365760" y="2697480"/>
            <a:ext cx="11430000" cy="13716"/>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4572000"/>
            <a:ext cx="11430000" cy="13716"/>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02920"/>
          </a:xfrm>
          <a:prstGeom prst="rect">
            <a:avLst/>
          </a:prstGeom>
          <a:noFill/>
        </p:spPr>
        <p:txBody>
          <a:bodyPr wrap="square">
            <a:spAutoFit/>
          </a:bodyPr>
          <a:lstStyle/>
          <a:p>
            <a:pPr algn="l"/>
            <a:r>
              <a:rPr sz="2600" b="1" i="0">
                <a:solidFill>
                  <a:srgbClr val="F0F4F8"/>
                </a:solidFill>
              </a:rPr>
              <a:t>All ~60 Experiments — Sharpe Ratio</a:t>
            </a:r>
          </a:p>
        </p:txBody>
      </p:sp>
      <p:sp>
        <p:nvSpPr>
          <p:cNvPr id="4" name="TextBox 3"/>
          <p:cNvSpPr txBox="1"/>
          <p:nvPr/>
        </p:nvSpPr>
        <p:spPr>
          <a:xfrm>
            <a:off x="320040" y="530352"/>
            <a:ext cx="10972800" cy="320040"/>
          </a:xfrm>
          <a:prstGeom prst="rect">
            <a:avLst/>
          </a:prstGeom>
          <a:noFill/>
        </p:spPr>
        <p:txBody>
          <a:bodyPr wrap="square">
            <a:spAutoFit/>
          </a:bodyPr>
          <a:lstStyle/>
          <a:p>
            <a:pPr algn="l"/>
            <a:r>
              <a:rPr sz="1300" b="0" i="1">
                <a:solidFill>
                  <a:srgbClr val="8BA0B4"/>
                </a:solidFill>
              </a:rPr>
              <a:t>Grouped by session · Color = keep / discard / final / XGBoost</a:t>
            </a:r>
          </a:p>
        </p:txBody>
      </p:sp>
      <p:pic>
        <p:nvPicPr>
          <p:cNvPr id="5" name="Picture 4" descr="slide_sharpe_comparison.png"/>
          <p:cNvPicPr>
            <a:picLocks noChangeAspect="1"/>
          </p:cNvPicPr>
          <p:nvPr/>
        </p:nvPicPr>
        <p:blipFill>
          <a:blip r:embed="rId3"/>
          <a:stretch>
            <a:fillRect/>
          </a:stretch>
        </p:blipFill>
        <p:spPr>
          <a:xfrm>
            <a:off x="182880" y="777240"/>
            <a:ext cx="11823192" cy="5943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02920"/>
          </a:xfrm>
          <a:prstGeom prst="rect">
            <a:avLst/>
          </a:prstGeom>
          <a:noFill/>
        </p:spPr>
        <p:txBody>
          <a:bodyPr wrap="square">
            <a:spAutoFit/>
          </a:bodyPr>
          <a:lstStyle/>
          <a:p>
            <a:pPr algn="l"/>
            <a:r>
              <a:rPr sz="2600" b="1" i="0">
                <a:solidFill>
                  <a:srgbClr val="F0F4F8"/>
                </a:solidFill>
              </a:rPr>
              <a:t>Research Progression — Key Milestones</a:t>
            </a:r>
          </a:p>
        </p:txBody>
      </p:sp>
      <p:sp>
        <p:nvSpPr>
          <p:cNvPr id="4" name="TextBox 3"/>
          <p:cNvSpPr txBox="1"/>
          <p:nvPr/>
        </p:nvSpPr>
        <p:spPr>
          <a:xfrm>
            <a:off x="320040" y="530352"/>
            <a:ext cx="10972800" cy="320040"/>
          </a:xfrm>
          <a:prstGeom prst="rect">
            <a:avLst/>
          </a:prstGeom>
          <a:noFill/>
        </p:spPr>
        <p:txBody>
          <a:bodyPr wrap="square">
            <a:spAutoFit/>
          </a:bodyPr>
          <a:lstStyle/>
          <a:p>
            <a:pPr algn="l"/>
            <a:r>
              <a:rPr sz="1300" b="0" i="1">
                <a:solidFill>
                  <a:srgbClr val="8BA0B4"/>
                </a:solidFill>
              </a:rPr>
              <a:t>True baseline 0.86 → best committed 2.21 → post-cleanup 2.59</a:t>
            </a:r>
          </a:p>
        </p:txBody>
      </p:sp>
      <p:pic>
        <p:nvPicPr>
          <p:cNvPr id="5" name="Picture 4" descr="slide_progression.png"/>
          <p:cNvPicPr>
            <a:picLocks noChangeAspect="1"/>
          </p:cNvPicPr>
          <p:nvPr/>
        </p:nvPicPr>
        <p:blipFill>
          <a:blip r:embed="rId3"/>
          <a:stretch>
            <a:fillRect/>
          </a:stretch>
        </p:blipFill>
        <p:spPr>
          <a:xfrm>
            <a:off x="365760" y="841248"/>
            <a:ext cx="11457432" cy="5897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02920"/>
          </a:xfrm>
          <a:prstGeom prst="rect">
            <a:avLst/>
          </a:prstGeom>
          <a:noFill/>
        </p:spPr>
        <p:txBody>
          <a:bodyPr wrap="square">
            <a:spAutoFit/>
          </a:bodyPr>
          <a:lstStyle/>
          <a:p>
            <a:pPr algn="l"/>
            <a:r>
              <a:rPr sz="2600" b="1" i="0">
                <a:solidFill>
                  <a:srgbClr val="F0F4F8"/>
                </a:solidFill>
              </a:rPr>
              <a:t>Equity Curve — Final RF Model vs. Buy &amp; Hold</a:t>
            </a:r>
          </a:p>
        </p:txBody>
      </p:sp>
      <p:sp>
        <p:nvSpPr>
          <p:cNvPr id="4" name="TextBox 3"/>
          <p:cNvSpPr txBox="1"/>
          <p:nvPr/>
        </p:nvSpPr>
        <p:spPr>
          <a:xfrm>
            <a:off x="320040" y="530352"/>
            <a:ext cx="10972800" cy="320040"/>
          </a:xfrm>
          <a:prstGeom prst="rect">
            <a:avLst/>
          </a:prstGeom>
          <a:noFill/>
        </p:spPr>
        <p:txBody>
          <a:bodyPr wrap="square">
            <a:spAutoFit/>
          </a:bodyPr>
          <a:lstStyle/>
          <a:p>
            <a:pPr algn="l"/>
            <a:r>
              <a:rPr sz="1300" b="0" i="1">
                <a:solidFill>
                  <a:srgbClr val="8BA0B4"/>
                </a:solidFill>
              </a:rPr>
              <a:t>Validation set · Red shading = drawdown periods</a:t>
            </a:r>
          </a:p>
        </p:txBody>
      </p:sp>
      <p:pic>
        <p:nvPicPr>
          <p:cNvPr id="5" name="Picture 4" descr="slide_equity_curve.png"/>
          <p:cNvPicPr>
            <a:picLocks noChangeAspect="1"/>
          </p:cNvPicPr>
          <p:nvPr/>
        </p:nvPicPr>
        <p:blipFill>
          <a:blip r:embed="rId3"/>
          <a:stretch>
            <a:fillRect/>
          </a:stretch>
        </p:blipFill>
        <p:spPr>
          <a:xfrm>
            <a:off x="365760" y="841248"/>
            <a:ext cx="11457432" cy="5897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02920"/>
          </a:xfrm>
          <a:prstGeom prst="rect">
            <a:avLst/>
          </a:prstGeom>
          <a:noFill/>
        </p:spPr>
        <p:txBody>
          <a:bodyPr wrap="square">
            <a:spAutoFit/>
          </a:bodyPr>
          <a:lstStyle/>
          <a:p>
            <a:pPr algn="l"/>
            <a:r>
              <a:rPr sz="2600" b="1" i="0">
                <a:solidFill>
                  <a:srgbClr val="F0F4F8"/>
                </a:solidFill>
              </a:rPr>
              <a:t>Feature Importances — Final Random Forest</a:t>
            </a:r>
          </a:p>
        </p:txBody>
      </p:sp>
      <p:sp>
        <p:nvSpPr>
          <p:cNvPr id="4" name="TextBox 3"/>
          <p:cNvSpPr txBox="1"/>
          <p:nvPr/>
        </p:nvSpPr>
        <p:spPr>
          <a:xfrm>
            <a:off x="320040" y="530352"/>
            <a:ext cx="10972800" cy="320040"/>
          </a:xfrm>
          <a:prstGeom prst="rect">
            <a:avLst/>
          </a:prstGeom>
          <a:noFill/>
        </p:spPr>
        <p:txBody>
          <a:bodyPr wrap="square">
            <a:spAutoFit/>
          </a:bodyPr>
          <a:lstStyle/>
          <a:p>
            <a:pPr algn="l"/>
            <a:r>
              <a:rPr sz="1300" b="0" i="1">
                <a:solidFill>
                  <a:srgbClr val="8BA0B4"/>
                </a:solidFill>
              </a:rPr>
              <a:t>6 rolling momentum / volatility features derived from ret_lag only</a:t>
            </a:r>
          </a:p>
        </p:txBody>
      </p:sp>
      <p:pic>
        <p:nvPicPr>
          <p:cNvPr id="5" name="Picture 4" descr="slide_feature_importance.png"/>
          <p:cNvPicPr>
            <a:picLocks noChangeAspect="1"/>
          </p:cNvPicPr>
          <p:nvPr/>
        </p:nvPicPr>
        <p:blipFill>
          <a:blip r:embed="rId3"/>
          <a:stretch>
            <a:fillRect/>
          </a:stretch>
        </p:blipFill>
        <p:spPr>
          <a:xfrm>
            <a:off x="1371600" y="868680"/>
            <a:ext cx="9445752" cy="58521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02920"/>
          </a:xfrm>
          <a:prstGeom prst="rect">
            <a:avLst/>
          </a:prstGeom>
          <a:noFill/>
        </p:spPr>
        <p:txBody>
          <a:bodyPr wrap="square">
            <a:spAutoFit/>
          </a:bodyPr>
          <a:lstStyle/>
          <a:p>
            <a:pPr algn="l"/>
            <a:r>
              <a:rPr sz="2600" b="1" i="0">
                <a:solidFill>
                  <a:srgbClr val="F0F4F8"/>
                </a:solidFill>
              </a:rPr>
              <a:t>Rolling 63-Day Sharpe — Validation Period</a:t>
            </a:r>
          </a:p>
        </p:txBody>
      </p:sp>
      <p:sp>
        <p:nvSpPr>
          <p:cNvPr id="4" name="TextBox 3"/>
          <p:cNvSpPr txBox="1"/>
          <p:nvPr/>
        </p:nvSpPr>
        <p:spPr>
          <a:xfrm>
            <a:off x="320040" y="530352"/>
            <a:ext cx="10972800" cy="320040"/>
          </a:xfrm>
          <a:prstGeom prst="rect">
            <a:avLst/>
          </a:prstGeom>
          <a:noFill/>
        </p:spPr>
        <p:txBody>
          <a:bodyPr wrap="square">
            <a:spAutoFit/>
          </a:bodyPr>
          <a:lstStyle/>
          <a:p>
            <a:pPr algn="l"/>
            <a:r>
              <a:rPr sz="1300" b="0" i="1">
                <a:solidFill>
                  <a:srgbClr val="8BA0B4"/>
                </a:solidFill>
              </a:rPr>
              <a:t>Green fill = positive Sharpe periods · Red fill = negative</a:t>
            </a:r>
          </a:p>
        </p:txBody>
      </p:sp>
      <p:pic>
        <p:nvPicPr>
          <p:cNvPr id="5" name="Picture 4" descr="slide_rolling_sharpe.png"/>
          <p:cNvPicPr>
            <a:picLocks noChangeAspect="1"/>
          </p:cNvPicPr>
          <p:nvPr/>
        </p:nvPicPr>
        <p:blipFill>
          <a:blip r:embed="rId3"/>
          <a:stretch>
            <a:fillRect/>
          </a:stretch>
        </p:blipFill>
        <p:spPr>
          <a:xfrm>
            <a:off x="365760" y="841248"/>
            <a:ext cx="11457432" cy="5897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02920"/>
          </a:xfrm>
          <a:prstGeom prst="rect">
            <a:avLst/>
          </a:prstGeom>
          <a:noFill/>
        </p:spPr>
        <p:txBody>
          <a:bodyPr wrap="square">
            <a:spAutoFit/>
          </a:bodyPr>
          <a:lstStyle/>
          <a:p>
            <a:pPr algn="l"/>
            <a:r>
              <a:rPr sz="2600" b="1" i="0">
                <a:solidFill>
                  <a:srgbClr val="F0F4F8"/>
                </a:solidFill>
              </a:rPr>
              <a:t>What Worked vs. What Failed</a:t>
            </a:r>
          </a:p>
        </p:txBody>
      </p:sp>
      <p:sp>
        <p:nvSpPr>
          <p:cNvPr id="4" name="TextBox 3"/>
          <p:cNvSpPr txBox="1"/>
          <p:nvPr/>
        </p:nvSpPr>
        <p:spPr>
          <a:xfrm>
            <a:off x="320040" y="960120"/>
            <a:ext cx="5486400" cy="347472"/>
          </a:xfrm>
          <a:prstGeom prst="rect">
            <a:avLst/>
          </a:prstGeom>
          <a:noFill/>
        </p:spPr>
        <p:txBody>
          <a:bodyPr wrap="square">
            <a:spAutoFit/>
          </a:bodyPr>
          <a:lstStyle/>
          <a:p>
            <a:pPr algn="l"/>
            <a:r>
              <a:rPr sz="1100" b="1" i="0">
                <a:solidFill>
                  <a:srgbClr val="4ADE80"/>
                </a:solidFill>
              </a:rPr>
              <a:t>✓  3-year rolling window</a:t>
            </a:r>
          </a:p>
        </p:txBody>
      </p:sp>
      <p:sp>
        <p:nvSpPr>
          <p:cNvPr id="5" name="TextBox 4"/>
          <p:cNvSpPr txBox="1"/>
          <p:nvPr/>
        </p:nvSpPr>
        <p:spPr>
          <a:xfrm>
            <a:off x="502920" y="1289304"/>
            <a:ext cx="5303520" cy="347472"/>
          </a:xfrm>
          <a:prstGeom prst="rect">
            <a:avLst/>
          </a:prstGeom>
          <a:noFill/>
        </p:spPr>
        <p:txBody>
          <a:bodyPr wrap="square">
            <a:spAutoFit/>
          </a:bodyPr>
          <a:lstStyle/>
          <a:p>
            <a:pPr algn="l"/>
            <a:r>
              <a:rPr sz="950" b="0" i="0">
                <a:solidFill>
                  <a:srgbClr val="8BA0B4"/>
                </a:solidFill>
              </a:rPr>
              <a:t>Dropping it to 2yr cost −1.3 Sharpe</a:t>
            </a:r>
          </a:p>
        </p:txBody>
      </p:sp>
      <p:sp>
        <p:nvSpPr>
          <p:cNvPr id="6" name="TextBox 5"/>
          <p:cNvSpPr txBox="1"/>
          <p:nvPr/>
        </p:nvSpPr>
        <p:spPr>
          <a:xfrm>
            <a:off x="320040" y="1837943"/>
            <a:ext cx="5486400" cy="347472"/>
          </a:xfrm>
          <a:prstGeom prst="rect">
            <a:avLst/>
          </a:prstGeom>
          <a:noFill/>
        </p:spPr>
        <p:txBody>
          <a:bodyPr wrap="square">
            <a:spAutoFit/>
          </a:bodyPr>
          <a:lstStyle/>
          <a:p>
            <a:pPr algn="l"/>
            <a:r>
              <a:rPr sz="1100" b="1" i="0">
                <a:solidFill>
                  <a:srgbClr val="4ADE80"/>
                </a:solidFill>
              </a:rPr>
              <a:t>✓  WTI shock filter at 2%</a:t>
            </a:r>
          </a:p>
        </p:txBody>
      </p:sp>
      <p:sp>
        <p:nvSpPr>
          <p:cNvPr id="7" name="TextBox 6"/>
          <p:cNvSpPr txBox="1"/>
          <p:nvPr/>
        </p:nvSpPr>
        <p:spPr>
          <a:xfrm>
            <a:off x="502920" y="2167127"/>
            <a:ext cx="5303520" cy="347472"/>
          </a:xfrm>
          <a:prstGeom prst="rect">
            <a:avLst/>
          </a:prstGeom>
          <a:noFill/>
        </p:spPr>
        <p:txBody>
          <a:bodyPr wrap="square">
            <a:spAutoFit/>
          </a:bodyPr>
          <a:lstStyle/>
          <a:p>
            <a:pPr algn="l"/>
            <a:r>
              <a:rPr sz="950" b="0" i="0">
                <a:solidFill>
                  <a:srgbClr val="8BA0B4"/>
                </a:solidFill>
              </a:rPr>
              <a:t>+0.37 Sharpe; 1.5% and 3% both hurt</a:t>
            </a:r>
          </a:p>
        </p:txBody>
      </p:sp>
      <p:sp>
        <p:nvSpPr>
          <p:cNvPr id="8" name="TextBox 7"/>
          <p:cNvSpPr txBox="1"/>
          <p:nvPr/>
        </p:nvSpPr>
        <p:spPr>
          <a:xfrm>
            <a:off x="320040" y="2715768"/>
            <a:ext cx="5486400" cy="347472"/>
          </a:xfrm>
          <a:prstGeom prst="rect">
            <a:avLst/>
          </a:prstGeom>
          <a:noFill/>
        </p:spPr>
        <p:txBody>
          <a:bodyPr wrap="square">
            <a:spAutoFit/>
          </a:bodyPr>
          <a:lstStyle/>
          <a:p>
            <a:pPr algn="l"/>
            <a:r>
              <a:rPr sz="1100" b="1" i="0">
                <a:solidFill>
                  <a:srgbClr val="4ADE80"/>
                </a:solidFill>
              </a:rPr>
              <a:t>✓  Direction classification</a:t>
            </a:r>
          </a:p>
        </p:txBody>
      </p:sp>
      <p:sp>
        <p:nvSpPr>
          <p:cNvPr id="9" name="TextBox 8"/>
          <p:cNvSpPr txBox="1"/>
          <p:nvPr/>
        </p:nvSpPr>
        <p:spPr>
          <a:xfrm>
            <a:off x="502920" y="3044951"/>
            <a:ext cx="5303520" cy="347472"/>
          </a:xfrm>
          <a:prstGeom prst="rect">
            <a:avLst/>
          </a:prstGeom>
          <a:noFill/>
        </p:spPr>
        <p:txBody>
          <a:bodyPr wrap="square">
            <a:spAutoFit/>
          </a:bodyPr>
          <a:lstStyle/>
          <a:p>
            <a:pPr algn="l"/>
            <a:r>
              <a:rPr sz="950" b="0" i="0">
                <a:solidFill>
                  <a:srgbClr val="8BA0B4"/>
                </a:solidFill>
              </a:rPr>
              <a:t>sign(pred)×ret metric → only direction matters</a:t>
            </a:r>
          </a:p>
        </p:txBody>
      </p:sp>
      <p:sp>
        <p:nvSpPr>
          <p:cNvPr id="10" name="TextBox 9"/>
          <p:cNvSpPr txBox="1"/>
          <p:nvPr/>
        </p:nvSpPr>
        <p:spPr>
          <a:xfrm>
            <a:off x="320040" y="3593591"/>
            <a:ext cx="5486400" cy="347472"/>
          </a:xfrm>
          <a:prstGeom prst="rect">
            <a:avLst/>
          </a:prstGeom>
          <a:noFill/>
        </p:spPr>
        <p:txBody>
          <a:bodyPr wrap="square">
            <a:spAutoFit/>
          </a:bodyPr>
          <a:lstStyle/>
          <a:p>
            <a:pPr algn="l"/>
            <a:r>
              <a:rPr sz="1100" b="1" i="0">
                <a:solidFill>
                  <a:srgbClr val="4ADE80"/>
                </a:solidFill>
              </a:rPr>
              <a:t>✓  Shallow RF (depth=2)</a:t>
            </a:r>
          </a:p>
        </p:txBody>
      </p:sp>
      <p:sp>
        <p:nvSpPr>
          <p:cNvPr id="11" name="TextBox 10"/>
          <p:cNvSpPr txBox="1"/>
          <p:nvPr/>
        </p:nvSpPr>
        <p:spPr>
          <a:xfrm>
            <a:off x="502920" y="3922776"/>
            <a:ext cx="5303520" cy="347472"/>
          </a:xfrm>
          <a:prstGeom prst="rect">
            <a:avLst/>
          </a:prstGeom>
          <a:noFill/>
        </p:spPr>
        <p:txBody>
          <a:bodyPr wrap="square">
            <a:spAutoFit/>
          </a:bodyPr>
          <a:lstStyle/>
          <a:p>
            <a:pPr algn="l"/>
            <a:r>
              <a:rPr sz="950" b="0" i="0">
                <a:solidFill>
                  <a:srgbClr val="8BA0B4"/>
                </a:solidFill>
              </a:rPr>
              <a:t>Depth=4 overfit; depth=1 underfit</a:t>
            </a:r>
          </a:p>
        </p:txBody>
      </p:sp>
      <p:sp>
        <p:nvSpPr>
          <p:cNvPr id="12" name="TextBox 11"/>
          <p:cNvSpPr txBox="1"/>
          <p:nvPr/>
        </p:nvSpPr>
        <p:spPr>
          <a:xfrm>
            <a:off x="320040" y="4471416"/>
            <a:ext cx="5486400" cy="347472"/>
          </a:xfrm>
          <a:prstGeom prst="rect">
            <a:avLst/>
          </a:prstGeom>
          <a:noFill/>
        </p:spPr>
        <p:txBody>
          <a:bodyPr wrap="square">
            <a:spAutoFit/>
          </a:bodyPr>
          <a:lstStyle/>
          <a:p>
            <a:pPr algn="l"/>
            <a:r>
              <a:rPr sz="1100" b="1" i="0">
                <a:solidFill>
                  <a:srgbClr val="4ADE80"/>
                </a:solidFill>
              </a:rPr>
              <a:t>✓  Exponential sample decay</a:t>
            </a:r>
          </a:p>
        </p:txBody>
      </p:sp>
      <p:sp>
        <p:nvSpPr>
          <p:cNvPr id="13" name="TextBox 12"/>
          <p:cNvSpPr txBox="1"/>
          <p:nvPr/>
        </p:nvSpPr>
        <p:spPr>
          <a:xfrm>
            <a:off x="502920" y="4800600"/>
            <a:ext cx="5303520" cy="347472"/>
          </a:xfrm>
          <a:prstGeom prst="rect">
            <a:avLst/>
          </a:prstGeom>
          <a:noFill/>
        </p:spPr>
        <p:txBody>
          <a:bodyPr wrap="square">
            <a:spAutoFit/>
          </a:bodyPr>
          <a:lstStyle/>
          <a:p>
            <a:pPr algn="l"/>
            <a:r>
              <a:rPr sz="950" b="0" i="0">
                <a:solidFill>
                  <a:srgbClr val="8BA0B4"/>
                </a:solidFill>
              </a:rPr>
              <a:t>Upweights recent data within rolling window</a:t>
            </a:r>
          </a:p>
        </p:txBody>
      </p:sp>
      <p:sp>
        <p:nvSpPr>
          <p:cNvPr id="14" name="TextBox 13"/>
          <p:cNvSpPr txBox="1"/>
          <p:nvPr/>
        </p:nvSpPr>
        <p:spPr>
          <a:xfrm>
            <a:off x="6309360" y="960120"/>
            <a:ext cx="5486400" cy="347472"/>
          </a:xfrm>
          <a:prstGeom prst="rect">
            <a:avLst/>
          </a:prstGeom>
          <a:noFill/>
        </p:spPr>
        <p:txBody>
          <a:bodyPr wrap="square">
            <a:spAutoFit/>
          </a:bodyPr>
          <a:lstStyle/>
          <a:p>
            <a:pPr algn="l"/>
            <a:r>
              <a:rPr sz="1100" b="1" i="0">
                <a:solidFill>
                  <a:srgbClr val="F87171"/>
                </a:solidFill>
              </a:rPr>
              <a:t>✗  Direct Sharpe optimizer</a:t>
            </a:r>
          </a:p>
        </p:txBody>
      </p:sp>
      <p:sp>
        <p:nvSpPr>
          <p:cNvPr id="15" name="TextBox 14"/>
          <p:cNvSpPr txBox="1"/>
          <p:nvPr/>
        </p:nvSpPr>
        <p:spPr>
          <a:xfrm>
            <a:off x="6492240" y="1289304"/>
            <a:ext cx="5303520" cy="347472"/>
          </a:xfrm>
          <a:prstGeom prst="rect">
            <a:avLst/>
          </a:prstGeom>
          <a:noFill/>
        </p:spPr>
        <p:txBody>
          <a:bodyPr wrap="square">
            <a:spAutoFit/>
          </a:bodyPr>
          <a:lstStyle/>
          <a:p>
            <a:pPr algn="l"/>
            <a:r>
              <a:rPr sz="950" b="0" i="0">
                <a:solidFill>
                  <a:srgbClr val="8BA0B4"/>
                </a:solidFill>
              </a:rPr>
              <a:t>Training obj didn't correlate with val (0.03)</a:t>
            </a:r>
          </a:p>
        </p:txBody>
      </p:sp>
      <p:sp>
        <p:nvSpPr>
          <p:cNvPr id="16" name="TextBox 15"/>
          <p:cNvSpPr txBox="1"/>
          <p:nvPr/>
        </p:nvSpPr>
        <p:spPr>
          <a:xfrm>
            <a:off x="6309360" y="1837943"/>
            <a:ext cx="5486400" cy="347472"/>
          </a:xfrm>
          <a:prstGeom prst="rect">
            <a:avLst/>
          </a:prstGeom>
          <a:noFill/>
        </p:spPr>
        <p:txBody>
          <a:bodyPr wrap="square">
            <a:spAutoFit/>
          </a:bodyPr>
          <a:lstStyle/>
          <a:p>
            <a:pPr algn="l"/>
            <a:r>
              <a:rPr sz="1100" b="1" i="0">
                <a:solidFill>
                  <a:srgbClr val="F87171"/>
                </a:solidFill>
              </a:rPr>
              <a:t>✗  Macro / weather features</a:t>
            </a:r>
          </a:p>
        </p:txBody>
      </p:sp>
      <p:sp>
        <p:nvSpPr>
          <p:cNvPr id="17" name="TextBox 16"/>
          <p:cNvSpPr txBox="1"/>
          <p:nvPr/>
        </p:nvSpPr>
        <p:spPr>
          <a:xfrm>
            <a:off x="6492240" y="2167127"/>
            <a:ext cx="5303520" cy="347472"/>
          </a:xfrm>
          <a:prstGeom prst="rect">
            <a:avLst/>
          </a:prstGeom>
          <a:noFill/>
        </p:spPr>
        <p:txBody>
          <a:bodyPr wrap="square">
            <a:spAutoFit/>
          </a:bodyPr>
          <a:lstStyle/>
          <a:p>
            <a:pPr algn="l"/>
            <a:r>
              <a:rPr sz="950" b="0" i="0">
                <a:solidFill>
                  <a:srgbClr val="8BA0B4"/>
                </a:solidFill>
              </a:rPr>
              <a:t>OOS −0.74 vs. IS 1.22; too sparse</a:t>
            </a:r>
          </a:p>
        </p:txBody>
      </p:sp>
      <p:sp>
        <p:nvSpPr>
          <p:cNvPr id="18" name="TextBox 17"/>
          <p:cNvSpPr txBox="1"/>
          <p:nvPr/>
        </p:nvSpPr>
        <p:spPr>
          <a:xfrm>
            <a:off x="6309360" y="2715768"/>
            <a:ext cx="5486400" cy="347472"/>
          </a:xfrm>
          <a:prstGeom prst="rect">
            <a:avLst/>
          </a:prstGeom>
          <a:noFill/>
        </p:spPr>
        <p:txBody>
          <a:bodyPr wrap="square">
            <a:spAutoFit/>
          </a:bodyPr>
          <a:lstStyle/>
          <a:p>
            <a:pPr algn="l"/>
            <a:r>
              <a:rPr sz="1100" b="1" i="0">
                <a:solidFill>
                  <a:srgbClr val="F87171"/>
                </a:solidFill>
              </a:rPr>
              <a:t>✗  XGBoost</a:t>
            </a:r>
          </a:p>
        </p:txBody>
      </p:sp>
      <p:sp>
        <p:nvSpPr>
          <p:cNvPr id="19" name="TextBox 18"/>
          <p:cNvSpPr txBox="1"/>
          <p:nvPr/>
        </p:nvSpPr>
        <p:spPr>
          <a:xfrm>
            <a:off x="6492240" y="3044951"/>
            <a:ext cx="5303520" cy="347472"/>
          </a:xfrm>
          <a:prstGeom prst="rect">
            <a:avLst/>
          </a:prstGeom>
          <a:noFill/>
        </p:spPr>
        <p:txBody>
          <a:bodyPr wrap="square">
            <a:spAutoFit/>
          </a:bodyPr>
          <a:lstStyle/>
          <a:p>
            <a:pPr algn="l"/>
            <a:r>
              <a:rPr sz="950" b="0" i="0">
                <a:solidFill>
                  <a:srgbClr val="8BA0B4"/>
                </a:solidFill>
              </a:rPr>
              <a:t>WF Sharpe −0.40; sequential boosting fits noise</a:t>
            </a:r>
          </a:p>
        </p:txBody>
      </p:sp>
      <p:sp>
        <p:nvSpPr>
          <p:cNvPr id="20" name="TextBox 19"/>
          <p:cNvSpPr txBox="1"/>
          <p:nvPr/>
        </p:nvSpPr>
        <p:spPr>
          <a:xfrm>
            <a:off x="6309360" y="3593591"/>
            <a:ext cx="5486400" cy="347472"/>
          </a:xfrm>
          <a:prstGeom prst="rect">
            <a:avLst/>
          </a:prstGeom>
          <a:noFill/>
        </p:spPr>
        <p:txBody>
          <a:bodyPr wrap="square">
            <a:spAutoFit/>
          </a:bodyPr>
          <a:lstStyle/>
          <a:p>
            <a:pPr algn="l"/>
            <a:r>
              <a:rPr sz="1100" b="1" i="0">
                <a:solidFill>
                  <a:srgbClr val="F87171"/>
                </a:solidFill>
              </a:rPr>
              <a:t>✗  WTI as RF input</a:t>
            </a:r>
          </a:p>
        </p:txBody>
      </p:sp>
      <p:sp>
        <p:nvSpPr>
          <p:cNvPr id="21" name="TextBox 20"/>
          <p:cNvSpPr txBox="1"/>
          <p:nvPr/>
        </p:nvSpPr>
        <p:spPr>
          <a:xfrm>
            <a:off x="6492240" y="3922776"/>
            <a:ext cx="5303520" cy="347472"/>
          </a:xfrm>
          <a:prstGeom prst="rect">
            <a:avLst/>
          </a:prstGeom>
          <a:noFill/>
        </p:spPr>
        <p:txBody>
          <a:bodyPr wrap="square">
            <a:spAutoFit/>
          </a:bodyPr>
          <a:lstStyle/>
          <a:p>
            <a:pPr algn="l"/>
            <a:r>
              <a:rPr sz="950" b="0" i="0">
                <a:solidFill>
                  <a:srgbClr val="8BA0B4"/>
                </a:solidFill>
              </a:rPr>
              <a:t>Works as filter only, not as feature (1.34)</a:t>
            </a:r>
          </a:p>
        </p:txBody>
      </p:sp>
      <p:sp>
        <p:nvSpPr>
          <p:cNvPr id="22" name="TextBox 21"/>
          <p:cNvSpPr txBox="1"/>
          <p:nvPr/>
        </p:nvSpPr>
        <p:spPr>
          <a:xfrm>
            <a:off x="6309360" y="4471416"/>
            <a:ext cx="5486400" cy="347472"/>
          </a:xfrm>
          <a:prstGeom prst="rect">
            <a:avLst/>
          </a:prstGeom>
          <a:noFill/>
        </p:spPr>
        <p:txBody>
          <a:bodyPr wrap="square">
            <a:spAutoFit/>
          </a:bodyPr>
          <a:lstStyle/>
          <a:p>
            <a:pPr algn="l"/>
            <a:r>
              <a:rPr sz="1100" b="1" i="0">
                <a:solidFill>
                  <a:srgbClr val="F87171"/>
                </a:solidFill>
              </a:rPr>
              <a:t>✗  More features (lags/RSI/Bol.)</a:t>
            </a:r>
          </a:p>
        </p:txBody>
      </p:sp>
      <p:sp>
        <p:nvSpPr>
          <p:cNvPr id="23" name="TextBox 22"/>
          <p:cNvSpPr txBox="1"/>
          <p:nvPr/>
        </p:nvSpPr>
        <p:spPr>
          <a:xfrm>
            <a:off x="6492240" y="4800600"/>
            <a:ext cx="5303520" cy="347472"/>
          </a:xfrm>
          <a:prstGeom prst="rect">
            <a:avLst/>
          </a:prstGeom>
          <a:noFill/>
        </p:spPr>
        <p:txBody>
          <a:bodyPr wrap="square">
            <a:spAutoFit/>
          </a:bodyPr>
          <a:lstStyle/>
          <a:p>
            <a:pPr algn="l"/>
            <a:r>
              <a:rPr sz="950" b="0" i="0">
                <a:solidFill>
                  <a:srgbClr val="8BA0B4"/>
                </a:solidFill>
              </a:rPr>
              <a:t>Every extra feature reduced val Sharpe</a:t>
            </a:r>
          </a:p>
        </p:txBody>
      </p:sp>
      <p:sp>
        <p:nvSpPr>
          <p:cNvPr id="24" name="Rectangle 23"/>
          <p:cNvSpPr/>
          <p:nvPr/>
        </p:nvSpPr>
        <p:spPr>
          <a:xfrm>
            <a:off x="6035040" y="822960"/>
            <a:ext cx="18288" cy="5943600"/>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02920"/>
          </a:xfrm>
          <a:prstGeom prst="rect">
            <a:avLst/>
          </a:prstGeom>
          <a:noFill/>
        </p:spPr>
        <p:txBody>
          <a:bodyPr wrap="square">
            <a:spAutoFit/>
          </a:bodyPr>
          <a:lstStyle/>
          <a:p>
            <a:pPr algn="l"/>
            <a:r>
              <a:rPr sz="2600" b="1" i="0">
                <a:solidFill>
                  <a:srgbClr val="F0F4F8"/>
                </a:solidFill>
              </a:rPr>
              <a:t>Final Model — DirectionModel (RF)</a:t>
            </a:r>
          </a:p>
        </p:txBody>
      </p:sp>
      <p:sp>
        <p:nvSpPr>
          <p:cNvPr id="4" name="TextBox 3"/>
          <p:cNvSpPr txBox="1"/>
          <p:nvPr/>
        </p:nvSpPr>
        <p:spPr>
          <a:xfrm>
            <a:off x="457200" y="960120"/>
            <a:ext cx="2560320" cy="411480"/>
          </a:xfrm>
          <a:prstGeom prst="rect">
            <a:avLst/>
          </a:prstGeom>
          <a:noFill/>
        </p:spPr>
        <p:txBody>
          <a:bodyPr wrap="square">
            <a:spAutoFit/>
          </a:bodyPr>
          <a:lstStyle/>
          <a:p>
            <a:pPr algn="l"/>
            <a:r>
              <a:rPr sz="1100" b="1" i="0">
                <a:solidFill>
                  <a:srgbClr val="38BDF8"/>
                </a:solidFill>
              </a:rPr>
              <a:t>Classifier</a:t>
            </a:r>
          </a:p>
        </p:txBody>
      </p:sp>
      <p:sp>
        <p:nvSpPr>
          <p:cNvPr id="5" name="TextBox 4"/>
          <p:cNvSpPr txBox="1"/>
          <p:nvPr/>
        </p:nvSpPr>
        <p:spPr>
          <a:xfrm>
            <a:off x="3017520" y="960120"/>
            <a:ext cx="8686800" cy="411480"/>
          </a:xfrm>
          <a:prstGeom prst="rect">
            <a:avLst/>
          </a:prstGeom>
          <a:noFill/>
        </p:spPr>
        <p:txBody>
          <a:bodyPr wrap="square">
            <a:spAutoFit/>
          </a:bodyPr>
          <a:lstStyle/>
          <a:p>
            <a:pPr algn="l"/>
            <a:r>
              <a:rPr sz="1100" b="0" i="0">
                <a:solidFill>
                  <a:srgbClr val="F0F4F8"/>
                </a:solidFill>
              </a:rPr>
              <a:t>RandomForestClassifier  n=600, depth=2, msl=22, max_features='sqrt'</a:t>
            </a:r>
          </a:p>
        </p:txBody>
      </p:sp>
      <p:sp>
        <p:nvSpPr>
          <p:cNvPr id="6" name="Rectangle 5"/>
          <p:cNvSpPr/>
          <p:nvPr/>
        </p:nvSpPr>
        <p:spPr>
          <a:xfrm>
            <a:off x="457200" y="1490472"/>
            <a:ext cx="11247120" cy="9144"/>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18488"/>
            <a:ext cx="2560320" cy="411480"/>
          </a:xfrm>
          <a:prstGeom prst="rect">
            <a:avLst/>
          </a:prstGeom>
          <a:noFill/>
        </p:spPr>
        <p:txBody>
          <a:bodyPr wrap="square">
            <a:spAutoFit/>
          </a:bodyPr>
          <a:lstStyle/>
          <a:p>
            <a:pPr algn="l"/>
            <a:r>
              <a:rPr sz="1100" b="1" i="0">
                <a:solidFill>
                  <a:srgbClr val="38BDF8"/>
                </a:solidFill>
              </a:rPr>
              <a:t>Training window</a:t>
            </a:r>
          </a:p>
        </p:txBody>
      </p:sp>
      <p:sp>
        <p:nvSpPr>
          <p:cNvPr id="8" name="TextBox 7"/>
          <p:cNvSpPr txBox="1"/>
          <p:nvPr/>
        </p:nvSpPr>
        <p:spPr>
          <a:xfrm>
            <a:off x="3017520" y="1618488"/>
            <a:ext cx="8686800" cy="411480"/>
          </a:xfrm>
          <a:prstGeom prst="rect">
            <a:avLst/>
          </a:prstGeom>
          <a:noFill/>
        </p:spPr>
        <p:txBody>
          <a:bodyPr wrap="square">
            <a:spAutoFit/>
          </a:bodyPr>
          <a:lstStyle/>
          <a:p>
            <a:pPr algn="l"/>
            <a:r>
              <a:rPr sz="1100" b="0" i="0">
                <a:solidFill>
                  <a:srgbClr val="F0F4F8"/>
                </a:solidFill>
              </a:rPr>
              <a:t>Rolling 756 days (3 yr) — drops COVID 2020–21 regime</a:t>
            </a:r>
          </a:p>
        </p:txBody>
      </p:sp>
      <p:sp>
        <p:nvSpPr>
          <p:cNvPr id="9" name="Rectangle 8"/>
          <p:cNvSpPr/>
          <p:nvPr/>
        </p:nvSpPr>
        <p:spPr>
          <a:xfrm>
            <a:off x="457200" y="2148840"/>
            <a:ext cx="11247120" cy="9144"/>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276856"/>
            <a:ext cx="2560320" cy="411480"/>
          </a:xfrm>
          <a:prstGeom prst="rect">
            <a:avLst/>
          </a:prstGeom>
          <a:noFill/>
        </p:spPr>
        <p:txBody>
          <a:bodyPr wrap="square">
            <a:spAutoFit/>
          </a:bodyPr>
          <a:lstStyle/>
          <a:p>
            <a:pPr algn="l"/>
            <a:r>
              <a:rPr sz="1100" b="1" i="0">
                <a:solidFill>
                  <a:srgbClr val="38BDF8"/>
                </a:solidFill>
              </a:rPr>
              <a:t>Sample weights</a:t>
            </a:r>
          </a:p>
        </p:txBody>
      </p:sp>
      <p:sp>
        <p:nvSpPr>
          <p:cNvPr id="11" name="TextBox 10"/>
          <p:cNvSpPr txBox="1"/>
          <p:nvPr/>
        </p:nvSpPr>
        <p:spPr>
          <a:xfrm>
            <a:off x="3017520" y="2276856"/>
            <a:ext cx="8686800" cy="411480"/>
          </a:xfrm>
          <a:prstGeom prst="rect">
            <a:avLst/>
          </a:prstGeom>
          <a:noFill/>
        </p:spPr>
        <p:txBody>
          <a:bodyPr wrap="square">
            <a:spAutoFit/>
          </a:bodyPr>
          <a:lstStyle/>
          <a:p>
            <a:pPr algn="l"/>
            <a:r>
              <a:rPr sz="1100" b="0" i="0">
                <a:solidFill>
                  <a:srgbClr val="F0F4F8"/>
                </a:solidFill>
              </a:rPr>
              <a:t>Exponential decay  exp(linspace(−0.3, 0, N))[cutoff:]</a:t>
            </a:r>
          </a:p>
        </p:txBody>
      </p:sp>
      <p:sp>
        <p:nvSpPr>
          <p:cNvPr id="12" name="Rectangle 11"/>
          <p:cNvSpPr/>
          <p:nvPr/>
        </p:nvSpPr>
        <p:spPr>
          <a:xfrm>
            <a:off x="457200" y="2807208"/>
            <a:ext cx="11247120" cy="9144"/>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935224"/>
            <a:ext cx="2560320" cy="411480"/>
          </a:xfrm>
          <a:prstGeom prst="rect">
            <a:avLst/>
          </a:prstGeom>
          <a:noFill/>
        </p:spPr>
        <p:txBody>
          <a:bodyPr wrap="square">
            <a:spAutoFit/>
          </a:bodyPr>
          <a:lstStyle/>
          <a:p>
            <a:pPr algn="l"/>
            <a:r>
              <a:rPr sz="1100" b="1" i="0">
                <a:solidFill>
                  <a:srgbClr val="38BDF8"/>
                </a:solidFill>
              </a:rPr>
              <a:t>Features</a:t>
            </a:r>
          </a:p>
        </p:txBody>
      </p:sp>
      <p:sp>
        <p:nvSpPr>
          <p:cNvPr id="14" name="TextBox 13"/>
          <p:cNvSpPr txBox="1"/>
          <p:nvPr/>
        </p:nvSpPr>
        <p:spPr>
          <a:xfrm>
            <a:off x="3017520" y="2935224"/>
            <a:ext cx="8686800" cy="411480"/>
          </a:xfrm>
          <a:prstGeom prst="rect">
            <a:avLst/>
          </a:prstGeom>
          <a:noFill/>
        </p:spPr>
        <p:txBody>
          <a:bodyPr wrap="square">
            <a:spAutoFit/>
          </a:bodyPr>
          <a:lstStyle/>
          <a:p>
            <a:pPr algn="l"/>
            <a:r>
              <a:rPr sz="1100" b="0" i="0">
                <a:solidFill>
                  <a:srgbClr val="F0F4F8"/>
                </a:solidFill>
              </a:rPr>
              <a:t>6 rolling momentum / volatility features derived from ret_lag</a:t>
            </a:r>
          </a:p>
        </p:txBody>
      </p:sp>
      <p:sp>
        <p:nvSpPr>
          <p:cNvPr id="15" name="Rectangle 14"/>
          <p:cNvSpPr/>
          <p:nvPr/>
        </p:nvSpPr>
        <p:spPr>
          <a:xfrm>
            <a:off x="457200" y="3465576"/>
            <a:ext cx="11247120" cy="9144"/>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593591"/>
            <a:ext cx="2560320" cy="411480"/>
          </a:xfrm>
          <a:prstGeom prst="rect">
            <a:avLst/>
          </a:prstGeom>
          <a:noFill/>
        </p:spPr>
        <p:txBody>
          <a:bodyPr wrap="square">
            <a:spAutoFit/>
          </a:bodyPr>
          <a:lstStyle/>
          <a:p>
            <a:pPr algn="l"/>
            <a:r>
              <a:rPr sz="1100" b="1" i="0">
                <a:solidFill>
                  <a:srgbClr val="38BDF8"/>
                </a:solidFill>
              </a:rPr>
              <a:t>Shock filter</a:t>
            </a:r>
          </a:p>
        </p:txBody>
      </p:sp>
      <p:sp>
        <p:nvSpPr>
          <p:cNvPr id="17" name="TextBox 16"/>
          <p:cNvSpPr txBox="1"/>
          <p:nvPr/>
        </p:nvSpPr>
        <p:spPr>
          <a:xfrm>
            <a:off x="3017520" y="3593591"/>
            <a:ext cx="8686800" cy="411480"/>
          </a:xfrm>
          <a:prstGeom prst="rect">
            <a:avLst/>
          </a:prstGeom>
          <a:noFill/>
        </p:spPr>
        <p:txBody>
          <a:bodyPr wrap="square">
            <a:spAutoFit/>
          </a:bodyPr>
          <a:lstStyle/>
          <a:p>
            <a:pPr algn="l"/>
            <a:r>
              <a:rPr sz="1100" b="0" i="0">
                <a:solidFill>
                  <a:srgbClr val="F0F4F8"/>
                </a:solidFill>
              </a:rPr>
              <a:t>Go flat when |WTI log-ret yesterday| &gt; 2 %  (EIA cache → yfinance)</a:t>
            </a:r>
          </a:p>
        </p:txBody>
      </p:sp>
      <p:sp>
        <p:nvSpPr>
          <p:cNvPr id="18" name="Rectangle 17"/>
          <p:cNvSpPr/>
          <p:nvPr/>
        </p:nvSpPr>
        <p:spPr>
          <a:xfrm>
            <a:off x="457200" y="4123944"/>
            <a:ext cx="11247120" cy="9144"/>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4251959"/>
            <a:ext cx="2560320" cy="411480"/>
          </a:xfrm>
          <a:prstGeom prst="rect">
            <a:avLst/>
          </a:prstGeom>
          <a:noFill/>
        </p:spPr>
        <p:txBody>
          <a:bodyPr wrap="square">
            <a:spAutoFit/>
          </a:bodyPr>
          <a:lstStyle/>
          <a:p>
            <a:pPr algn="l"/>
            <a:r>
              <a:rPr sz="1100" b="1" i="0">
                <a:solidFill>
                  <a:srgbClr val="38BDF8"/>
                </a:solidFill>
              </a:rPr>
              <a:t>Val Sharpe</a:t>
            </a:r>
          </a:p>
        </p:txBody>
      </p:sp>
      <p:sp>
        <p:nvSpPr>
          <p:cNvPr id="20" name="TextBox 19"/>
          <p:cNvSpPr txBox="1"/>
          <p:nvPr/>
        </p:nvSpPr>
        <p:spPr>
          <a:xfrm>
            <a:off x="3017520" y="4251959"/>
            <a:ext cx="8686800" cy="411480"/>
          </a:xfrm>
          <a:prstGeom prst="rect">
            <a:avLst/>
          </a:prstGeom>
          <a:noFill/>
        </p:spPr>
        <p:txBody>
          <a:bodyPr wrap="square">
            <a:spAutoFit/>
          </a:bodyPr>
          <a:lstStyle/>
          <a:p>
            <a:pPr algn="l"/>
            <a:r>
              <a:rPr sz="1100" b="0" i="0">
                <a:solidFill>
                  <a:srgbClr val="F0F4F8"/>
                </a:solidFill>
              </a:rPr>
              <a:t>2.59  (single holdout)  ·  0.32 mean across 4 walk-forward folds</a:t>
            </a:r>
          </a:p>
        </p:txBody>
      </p:sp>
      <p:sp>
        <p:nvSpPr>
          <p:cNvPr id="21" name="Rectangle 20"/>
          <p:cNvSpPr/>
          <p:nvPr/>
        </p:nvSpPr>
        <p:spPr>
          <a:xfrm>
            <a:off x="457200" y="4782312"/>
            <a:ext cx="11247120" cy="9144"/>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910328"/>
            <a:ext cx="2560320" cy="411480"/>
          </a:xfrm>
          <a:prstGeom prst="rect">
            <a:avLst/>
          </a:prstGeom>
          <a:noFill/>
        </p:spPr>
        <p:txBody>
          <a:bodyPr wrap="square">
            <a:spAutoFit/>
          </a:bodyPr>
          <a:lstStyle/>
          <a:p>
            <a:pPr algn="l"/>
            <a:r>
              <a:rPr sz="1100" b="1" i="0">
                <a:solidFill>
                  <a:srgbClr val="38BDF8"/>
                </a:solidFill>
              </a:rPr>
              <a:t>Val return</a:t>
            </a:r>
          </a:p>
        </p:txBody>
      </p:sp>
      <p:sp>
        <p:nvSpPr>
          <p:cNvPr id="23" name="TextBox 22"/>
          <p:cNvSpPr txBox="1"/>
          <p:nvPr/>
        </p:nvSpPr>
        <p:spPr>
          <a:xfrm>
            <a:off x="3017520" y="4910328"/>
            <a:ext cx="8686800" cy="411480"/>
          </a:xfrm>
          <a:prstGeom prst="rect">
            <a:avLst/>
          </a:prstGeom>
          <a:noFill/>
        </p:spPr>
        <p:txBody>
          <a:bodyPr wrap="square">
            <a:spAutoFit/>
          </a:bodyPr>
          <a:lstStyle/>
          <a:p>
            <a:pPr algn="l"/>
            <a:r>
              <a:rPr sz="1100" b="0" i="0">
                <a:solidFill>
                  <a:srgbClr val="F0F4F8"/>
                </a:solidFill>
              </a:rPr>
              <a:t>+73.9%  ·  Max DD -14.3%  ·  Win rate 43.9%</a:t>
            </a:r>
          </a:p>
        </p:txBody>
      </p:sp>
      <p:sp>
        <p:nvSpPr>
          <p:cNvPr id="24" name="Rectangle 23"/>
          <p:cNvSpPr/>
          <p:nvPr/>
        </p:nvSpPr>
        <p:spPr>
          <a:xfrm>
            <a:off x="457200" y="5440680"/>
            <a:ext cx="11247120" cy="9144"/>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6217920"/>
            <a:ext cx="11247120" cy="411480"/>
          </a:xfrm>
          <a:prstGeom prst="rect">
            <a:avLst/>
          </a:prstGeom>
          <a:noFill/>
        </p:spPr>
        <p:txBody>
          <a:bodyPr wrap="square">
            <a:spAutoFit/>
          </a:bodyPr>
          <a:lstStyle/>
          <a:p>
            <a:pPr algn="l"/>
            <a:r>
              <a:rPr sz="950" b="0" i="1">
                <a:solidFill>
                  <a:srgbClr val="FCD34D"/>
                </a:solidFill>
              </a:rPr>
              <a:t>⚠  Walk-forward Sharpe (0.32) is the conservative estimate. The single-holdout (2.59) reflects favorable 2025–2026 market conditions.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1430000" cy="502920"/>
          </a:xfrm>
          <a:prstGeom prst="rect">
            <a:avLst/>
          </a:prstGeom>
          <a:noFill/>
        </p:spPr>
        <p:txBody>
          <a:bodyPr wrap="square">
            <a:spAutoFit/>
          </a:bodyPr>
          <a:lstStyle/>
          <a:p>
            <a:pPr algn="l"/>
            <a:r>
              <a:rPr sz="2600" b="1" i="0">
                <a:solidFill>
                  <a:srgbClr val="F0F4F8"/>
                </a:solidFill>
              </a:rPr>
              <a:t>Reflection</a:t>
            </a:r>
          </a:p>
        </p:txBody>
      </p:sp>
      <p:sp>
        <p:nvSpPr>
          <p:cNvPr id="4" name="TextBox 3"/>
          <p:cNvSpPr txBox="1"/>
          <p:nvPr/>
        </p:nvSpPr>
        <p:spPr>
          <a:xfrm>
            <a:off x="365760" y="914400"/>
            <a:ext cx="5577840" cy="365760"/>
          </a:xfrm>
          <a:prstGeom prst="rect">
            <a:avLst/>
          </a:prstGeom>
          <a:noFill/>
        </p:spPr>
        <p:txBody>
          <a:bodyPr wrap="square">
            <a:spAutoFit/>
          </a:bodyPr>
          <a:lstStyle/>
          <a:p>
            <a:pPr algn="l"/>
            <a:r>
              <a:rPr sz="1200" b="1" i="0">
                <a:solidFill>
                  <a:srgbClr val="38BDF8"/>
                </a:solidFill>
              </a:rPr>
              <a:t>What the agent did well</a:t>
            </a:r>
          </a:p>
        </p:txBody>
      </p:sp>
      <p:sp>
        <p:nvSpPr>
          <p:cNvPr id="5" name="TextBox 4"/>
          <p:cNvSpPr txBox="1"/>
          <p:nvPr/>
        </p:nvSpPr>
        <p:spPr>
          <a:xfrm>
            <a:off x="365760" y="1280160"/>
            <a:ext cx="5577840" cy="1371600"/>
          </a:xfrm>
          <a:prstGeom prst="rect">
            <a:avLst/>
          </a:prstGeom>
          <a:noFill/>
        </p:spPr>
        <p:txBody>
          <a:bodyPr wrap="square">
            <a:spAutoFit/>
          </a:bodyPr>
          <a:lstStyle/>
          <a:p>
            <a:pPr algn="l"/>
            <a:r>
              <a:rPr sz="1050" b="0" i="0">
                <a:solidFill>
                  <a:srgbClr val="F0F4F8"/>
                </a:solidFill>
              </a:rPr>
              <a:t>Rapid hyperparameter sweeps, consistent experiment logging, and enforcing the frozen-file contract across all runs.</a:t>
            </a:r>
          </a:p>
        </p:txBody>
      </p:sp>
      <p:sp>
        <p:nvSpPr>
          <p:cNvPr id="6" name="TextBox 5"/>
          <p:cNvSpPr txBox="1"/>
          <p:nvPr/>
        </p:nvSpPr>
        <p:spPr>
          <a:xfrm>
            <a:off x="365760" y="3566160"/>
            <a:ext cx="5577840" cy="365760"/>
          </a:xfrm>
          <a:prstGeom prst="rect">
            <a:avLst/>
          </a:prstGeom>
          <a:noFill/>
        </p:spPr>
        <p:txBody>
          <a:bodyPr wrap="square">
            <a:spAutoFit/>
          </a:bodyPr>
          <a:lstStyle/>
          <a:p>
            <a:pPr algn="l"/>
            <a:r>
              <a:rPr sz="1200" b="1" i="0">
                <a:solidFill>
                  <a:srgbClr val="FCD34D"/>
                </a:solidFill>
              </a:rPr>
              <a:t>Walk-forward caveat</a:t>
            </a:r>
          </a:p>
        </p:txBody>
      </p:sp>
      <p:sp>
        <p:nvSpPr>
          <p:cNvPr id="7" name="TextBox 6"/>
          <p:cNvSpPr txBox="1"/>
          <p:nvPr/>
        </p:nvSpPr>
        <p:spPr>
          <a:xfrm>
            <a:off x="365760" y="3931920"/>
            <a:ext cx="5577840" cy="1371600"/>
          </a:xfrm>
          <a:prstGeom prst="rect">
            <a:avLst/>
          </a:prstGeom>
          <a:noFill/>
        </p:spPr>
        <p:txBody>
          <a:bodyPr wrap="square">
            <a:spAutoFit/>
          </a:bodyPr>
          <a:lstStyle/>
          <a:p>
            <a:pPr algn="l"/>
            <a:r>
              <a:rPr sz="1050" b="0" i="0">
                <a:solidFill>
                  <a:srgbClr val="F0F4F8"/>
                </a:solidFill>
              </a:rPr>
              <a:t>The single-holdout Sharpe of 2.59 reflects favorable 2025-2026 market conditions. The walk-forward mean of 0.32 is the conservative generalization estimate. Both are reported honestly.</a:t>
            </a:r>
          </a:p>
        </p:txBody>
      </p:sp>
      <p:sp>
        <p:nvSpPr>
          <p:cNvPr id="8" name="TextBox 7"/>
          <p:cNvSpPr txBox="1"/>
          <p:nvPr/>
        </p:nvSpPr>
        <p:spPr>
          <a:xfrm>
            <a:off x="6400800" y="914400"/>
            <a:ext cx="5486400" cy="365760"/>
          </a:xfrm>
          <a:prstGeom prst="rect">
            <a:avLst/>
          </a:prstGeom>
          <a:noFill/>
        </p:spPr>
        <p:txBody>
          <a:bodyPr wrap="square">
            <a:spAutoFit/>
          </a:bodyPr>
          <a:lstStyle/>
          <a:p>
            <a:pPr algn="l"/>
            <a:r>
              <a:rPr sz="1200" b="1" i="0">
                <a:solidFill>
                  <a:srgbClr val="F87171"/>
                </a:solidFill>
              </a:rPr>
              <a:t>What required human judgment</a:t>
            </a:r>
          </a:p>
        </p:txBody>
      </p:sp>
      <p:sp>
        <p:nvSpPr>
          <p:cNvPr id="9" name="TextBox 8"/>
          <p:cNvSpPr txBox="1"/>
          <p:nvPr/>
        </p:nvSpPr>
        <p:spPr>
          <a:xfrm>
            <a:off x="6400800" y="1280160"/>
            <a:ext cx="5486400" cy="1371600"/>
          </a:xfrm>
          <a:prstGeom prst="rect">
            <a:avLst/>
          </a:prstGeom>
          <a:noFill/>
        </p:spPr>
        <p:txBody>
          <a:bodyPr wrap="square">
            <a:spAutoFit/>
          </a:bodyPr>
          <a:lstStyle/>
          <a:p>
            <a:pPr algn="l"/>
            <a:r>
              <a:rPr sz="1050" b="0" i="0">
                <a:solidFill>
                  <a:srgbClr val="F0F4F8"/>
                </a:solidFill>
              </a:rPr>
              <a:t>Identifying that the direct Sharpe optimizer had a 0.03 train-val correlation and was fundamentally broken. Deciding to abandon macro/weather features after recognizing the sparsity problem. Choosing the 2% WTI threshold by reasoning about oil market microstructure, not grid search.</a:t>
            </a:r>
          </a:p>
        </p:txBody>
      </p:sp>
      <p:sp>
        <p:nvSpPr>
          <p:cNvPr id="10" name="TextBox 9"/>
          <p:cNvSpPr txBox="1"/>
          <p:nvPr/>
        </p:nvSpPr>
        <p:spPr>
          <a:xfrm>
            <a:off x="6400800" y="3566160"/>
            <a:ext cx="5486400" cy="365760"/>
          </a:xfrm>
          <a:prstGeom prst="rect">
            <a:avLst/>
          </a:prstGeom>
          <a:noFill/>
        </p:spPr>
        <p:txBody>
          <a:bodyPr wrap="square">
            <a:spAutoFit/>
          </a:bodyPr>
          <a:lstStyle/>
          <a:p>
            <a:pPr algn="l"/>
            <a:r>
              <a:rPr sz="1200" b="1" i="0">
                <a:solidFill>
                  <a:srgbClr val="4ADE80"/>
                </a:solidFill>
              </a:rPr>
              <a:t>If I redesigned the loop</a:t>
            </a:r>
          </a:p>
        </p:txBody>
      </p:sp>
      <p:sp>
        <p:nvSpPr>
          <p:cNvPr id="11" name="TextBox 10"/>
          <p:cNvSpPr txBox="1"/>
          <p:nvPr/>
        </p:nvSpPr>
        <p:spPr>
          <a:xfrm>
            <a:off x="6400800" y="3931920"/>
            <a:ext cx="5486400" cy="1371600"/>
          </a:xfrm>
          <a:prstGeom prst="rect">
            <a:avLst/>
          </a:prstGeom>
          <a:noFill/>
        </p:spPr>
        <p:txBody>
          <a:bodyPr wrap="square">
            <a:spAutoFit/>
          </a:bodyPr>
          <a:lstStyle/>
          <a:p>
            <a:pPr algn="l"/>
            <a:r>
              <a:rPr sz="1050" b="0" i="0">
                <a:solidFill>
                  <a:srgbClr val="F0F4F8"/>
                </a:solidFill>
              </a:rPr>
              <a:t>Add a regime-detection gate before model selection. Force the agent to run walk-forward evaluation on every committed experiment, not just the final one.</a:t>
            </a:r>
          </a:p>
        </p:txBody>
      </p:sp>
      <p:sp>
        <p:nvSpPr>
          <p:cNvPr id="12" name="Rectangle 11"/>
          <p:cNvSpPr/>
          <p:nvPr/>
        </p:nvSpPr>
        <p:spPr>
          <a:xfrm>
            <a:off x="6080760" y="868680"/>
            <a:ext cx="18288" cy="5760720"/>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3456432"/>
            <a:ext cx="11430000" cy="13716"/>
          </a:xfrm>
          <a:prstGeom prst="rect">
            <a:avLst/>
          </a:prstGeom>
          <a:solidFill>
            <a:srgbClr val="223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1251</Words>
  <Application>Microsoft Office PowerPoint</Application>
  <PresentationFormat>Custom</PresentationFormat>
  <Paragraphs>82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walty brookby</cp:lastModifiedBy>
  <cp:revision>1</cp:revision>
  <dcterms:created xsi:type="dcterms:W3CDTF">2013-01-27T09:14:16Z</dcterms:created>
  <dcterms:modified xsi:type="dcterms:W3CDTF">2026-05-25T21:33:47Z</dcterms:modified>
  <cp:category/>
</cp:coreProperties>
</file>