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BA0B4"/>
                </a:solidFill>
              </a:rPr>
              <a:t>XLE Energy ETF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0F4F8"/>
                </a:solidFill>
              </a:rPr>
              <a:t>AutoResearch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8BDF8"/>
                </a:solidFill>
              </a:rPr>
              <a:t>ML-Driven Sharpe Ratio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931920"/>
            <a:ext cx="1828800" cy="502920"/>
          </a:xfrm>
          <a:prstGeom prst="rect">
            <a:avLst/>
          </a:prstGeom>
          <a:solidFill>
            <a:srgbClr val="1B2B3E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1100" b="1">
                <a:solidFill>
                  <a:srgbClr val="FCD34D"/>
                </a:solidFill>
              </a:rPr>
              <a:t>True Baseline  0.86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3931920"/>
            <a:ext cx="1828800" cy="502920"/>
          </a:xfrm>
          <a:prstGeom prst="rect">
            <a:avLst/>
          </a:prstGeom>
          <a:solidFill>
            <a:srgbClr val="1B2B3E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1100" b="1">
                <a:solidFill>
                  <a:srgbClr val="4ADE80"/>
                </a:solidFill>
              </a:rPr>
              <a:t>Best Committed  2.21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3931920"/>
            <a:ext cx="1828800" cy="502920"/>
          </a:xfrm>
          <a:prstGeom prst="rect">
            <a:avLst/>
          </a:prstGeom>
          <a:solidFill>
            <a:srgbClr val="1B2B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1100" b="1">
                <a:solidFill>
                  <a:srgbClr val="38BDF8"/>
                </a:solidFill>
              </a:rPr>
              <a:t>Final Sharpe  2.59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3931920"/>
            <a:ext cx="1828800" cy="502920"/>
          </a:xfrm>
          <a:prstGeom prst="rect">
            <a:avLst/>
          </a:prstGeom>
          <a:solidFill>
            <a:srgbClr val="1B2B3E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/>
          <a:lstStyle/>
          <a:p>
            <a:pPr algn="ctr"/>
            <a:r>
              <a:rPr sz="1100" b="1">
                <a:solidFill>
                  <a:srgbClr val="C084FC"/>
                </a:solidFill>
              </a:rPr>
              <a:t>~60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A0B4"/>
                </a:solidFill>
              </a:rPr>
              <a:t>Sessions: Apr 15 – May 18 2026  ·  Model: RF DirectionModel  ·  Data: XLE 2020–present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A0B4"/>
                </a:solidFill>
              </a:rPr>
              <a:t>Only model.py was modified. prepare.py and run.py were frozen.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8"/>
                </a:solidFill>
              </a:rPr>
              <a:t>All ~60 Experiments — Sharpe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A0B4"/>
                </a:solidFill>
              </a:rPr>
              <a:t>Grouped by session · Color = keep / discard / final / XGBoost</a:t>
            </a:r>
          </a:p>
        </p:txBody>
      </p:sp>
      <p:pic>
        <p:nvPicPr>
          <p:cNvPr id="5" name="Picture 4" descr="slide_sharp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1182319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8"/>
                </a:solidFill>
              </a:rPr>
              <a:t>Research Progression — Key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A0B4"/>
                </a:solidFill>
              </a:rPr>
              <a:t>True baseline 0.86 → best committed 2.21 → post-cleanup 2.59</a:t>
            </a:r>
          </a:p>
        </p:txBody>
      </p:sp>
      <p:pic>
        <p:nvPicPr>
          <p:cNvPr id="5" name="Picture 4" descr="slide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41248"/>
            <a:ext cx="11457432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8"/>
                </a:solidFill>
              </a:rPr>
              <a:t>Equity Curve — Final RF Model vs. Buy &amp;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A0B4"/>
                </a:solidFill>
              </a:rPr>
              <a:t>Validation set · Red shading = drawdown periods</a:t>
            </a:r>
          </a:p>
        </p:txBody>
      </p:sp>
      <p:pic>
        <p:nvPicPr>
          <p:cNvPr id="5" name="Picture 4" descr="slide_equ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41248"/>
            <a:ext cx="11457432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8"/>
                </a:solidFill>
              </a:rPr>
              <a:t>Feature Importances — Final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A0B4"/>
                </a:solidFill>
              </a:rPr>
              <a:t>6 rolling momentum / volatility features derived from ret_lag only</a:t>
            </a:r>
          </a:p>
        </p:txBody>
      </p:sp>
      <p:pic>
        <p:nvPicPr>
          <p:cNvPr id="5" name="Picture 4" descr="slide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68680"/>
            <a:ext cx="944575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8"/>
                </a:solidFill>
              </a:rPr>
              <a:t>Rolling 63-Day Sharpe — Validation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A0B4"/>
                </a:solidFill>
              </a:rPr>
              <a:t>Green fill = positive Sharpe periods · Red fill = negative</a:t>
            </a:r>
          </a:p>
        </p:txBody>
      </p:sp>
      <p:pic>
        <p:nvPicPr>
          <p:cNvPr id="5" name="Picture 4" descr="slide_rolling_shar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41248"/>
            <a:ext cx="11457432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8"/>
                </a:solidFill>
              </a:rPr>
              <a:t>What Worked vs. What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60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✓  3-year rolling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93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0B4"/>
                </a:solidFill>
              </a:rPr>
              <a:t>Dropping it to 2yr cost −1.3 Sharpe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3794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✓  WTI shock filter at 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6712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0B4"/>
                </a:solidFill>
              </a:rPr>
              <a:t>+0.37 Sharpe; 1.5% and 3% both hurt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15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✓  Direction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44951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0B4"/>
                </a:solidFill>
              </a:rPr>
              <a:t>sign(pred)×ret metric → only direction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59359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✓  Shallow RF (depth=2)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227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0B4"/>
                </a:solidFill>
              </a:rPr>
              <a:t>Depth=4 overfit; depth=1 underfit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4714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✓  Exponential sample decay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00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0B4"/>
                </a:solidFill>
              </a:rPr>
              <a:t>Upweights recent data within rolling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960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✗  Direct Sharpe optimizer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2893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0B4"/>
                </a:solidFill>
              </a:rPr>
              <a:t>Training obj didn't correlate with val (0.03)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3794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✗  Macro / weather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6712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0B4"/>
                </a:solidFill>
              </a:rPr>
              <a:t>OOS −0.74 vs. IS 1.22; too sparse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15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✗  XGBoost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44951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0B4"/>
                </a:solidFill>
              </a:rPr>
              <a:t>WF Sharpe −0.40; sequential boosting fits 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9359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✗  WTI as RF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227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0B4"/>
                </a:solidFill>
              </a:rPr>
              <a:t>Works as filter only, not as feature (1.34)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4714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✗  More features (lags/RSI/Bol.)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00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0B4"/>
                </a:solidFill>
              </a:rPr>
              <a:t>Every extra feature reduced val Sharpe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822960"/>
            <a:ext cx="18288" cy="5943600"/>
          </a:xfrm>
          <a:prstGeom prst="rect">
            <a:avLst/>
          </a:prstGeom>
          <a:solidFill>
            <a:srgbClr val="22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8"/>
                </a:solidFill>
              </a:rPr>
              <a:t>Final Model — DirectionModel (RF)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960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RandomForestClassifier  n=600, depth=2, msl=22, max_features='sqrt'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90472"/>
            <a:ext cx="11247120" cy="9144"/>
          </a:xfrm>
          <a:prstGeom prst="rect">
            <a:avLst/>
          </a:prstGeom>
          <a:solidFill>
            <a:srgbClr val="22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184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Training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1848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Rolling 756 days (3 yr) — drops COVID 2020–21 regime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11247120" cy="9144"/>
          </a:xfrm>
          <a:prstGeom prst="rect">
            <a:avLst/>
          </a:prstGeom>
          <a:solidFill>
            <a:srgbClr val="22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7685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Sample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7685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Exponential decay  exp(linspace(−0.3, 0, N))[cutoff:]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07208"/>
            <a:ext cx="11247120" cy="9144"/>
          </a:xfrm>
          <a:prstGeom prst="rect">
            <a:avLst/>
          </a:prstGeom>
          <a:solidFill>
            <a:srgbClr val="22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352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3522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6 rolling momentum / volatility features derived from ret_lag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65576"/>
            <a:ext cx="11247120" cy="9144"/>
          </a:xfrm>
          <a:prstGeom prst="rect">
            <a:avLst/>
          </a:prstGeom>
          <a:solidFill>
            <a:srgbClr val="22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93591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Shock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593591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Go flat when |WTI log-ret yesterday| &gt; 2 %  (EIA cache → yfinance)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23944"/>
            <a:ext cx="11247120" cy="9144"/>
          </a:xfrm>
          <a:prstGeom prst="rect">
            <a:avLst/>
          </a:prstGeom>
          <a:solidFill>
            <a:srgbClr val="22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5195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Val Sharpe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25195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2.59  (single holdout)  ·  0.32 mean across 4 walk-forward folds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82312"/>
            <a:ext cx="11247120" cy="9144"/>
          </a:xfrm>
          <a:prstGeom prst="rect">
            <a:avLst/>
          </a:prstGeom>
          <a:solidFill>
            <a:srgbClr val="22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103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Val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91032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+73.9%  ·  Max DD -14.3%  ·  Win rate 43.9%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40680"/>
            <a:ext cx="11247120" cy="9144"/>
          </a:xfrm>
          <a:prstGeom prst="rect">
            <a:avLst/>
          </a:prstGeom>
          <a:solidFill>
            <a:srgbClr val="22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CD34D"/>
                </a:solidFill>
              </a:rPr>
              <a:t>⚠  Walk-forward Sharpe (0.32) is the conservative estimate. The single-holdout (2.59) reflects favorable 2025–2026 market conditions.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